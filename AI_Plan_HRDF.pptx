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37a2e6fb-127c-862d-da61-ca874a5e9cb2}">
          <p14:sldIdLst>
            <p14:sldId id="256"/>
            <p14:sldId id="257"/>
          </p14:sldIdLst>
        </p14:section>
        <p14:section name="أهمية الذكاء الاصطناعي" id="{fd9140b9-ab21-06a2-6e99-c697f4bae9be}">
          <p14:sldIdLst>
            <p14:sldId id="258"/>
            <p14:sldId id="259"/>
            <p14:sldId id="260"/>
          </p14:sldIdLst>
        </p14:section>
        <p14:section name="الوضع الراهن" id="{f4bfdb64-e7f6-4cff-0281-355f8a886273}">
          <p14:sldIdLst>
            <p14:sldId id="261"/>
            <p14:sldId id="262"/>
          </p14:sldIdLst>
        </p14:section>
        <p14:section name="ما استفدناه" id="{f6cad6db-067a-8e88-725e-ff02228b85fa}">
          <p14:sldIdLst>
            <p14:sldId id="263"/>
            <p14:sldId id="264"/>
            <p14:sldId id="265"/>
            <p14:sldId id="266"/>
          </p14:sldIdLst>
        </p14:section>
        <p14:section name="الخطة المستقبلية" id="{b2b6b73c-0f21-c07f-6545-782786c023fa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 العرض: أثر الذكاء الاصطناعي على عملنا الإبداعي، وما حققناه فعليًا، وخطتنا للسنوات الثلاث القادمة.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أرقام عامة موثقة من مصادرها. يُنصح بتحديثها قبل العرض إن صدرت تقارير أحدث.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عدّل شريط "الفرصة" بحسب واقع الفريق الفعلي.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يُفضّل إضافة أمثلة بأسماء حملات لجهات مشابهة (صناديق وهيئات) استخدمت الذكاء الاصطناعي، مع روابطها.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عبّئ الأرقام الفعلية من بيانات الفريق: نسبة خفض التكلفة، زمن الإنتاج قبل وبعد، وعدد المخرجات.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عند توفر ملفات الفيديو الثلاثة تُضاف هنا مكان الصور المصغّرة لتعمل داخل العرض.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عبّئ الأرقام من عروض أسعار الإنتاج السابقة مقابل تكلفة الاشتراكات ووقت الفريق لكل حملة.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قائمة المحركات تتغير باستمرار داخل المنصة؛ راجعها قبل العرض.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حدّد نسبة المستهدف لعام 2027 بحسب الطاقة الحالية للفريق.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Pro بـ 20 دولار، وMax بـ 100 أو 200 دولار. Magnific: Premium نحو 16، Premium+ نحو 37، Pro نحو 90 دولار شهريًا، والمصادر تختلف. Runway Pro نحو 28 دولار. أكّد الأسعار قبل رفع طلب الميزانية.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DARK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LIGH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6144768"/>
            <a:ext cx="109728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6144768"/>
            <a:ext cx="109728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jpg"/><Relationship Id="rId5" Type="http://schemas.openxmlformats.org/officeDocument/2006/relationships/image" Target="../media/image-9-5.png"/><Relationship Id="rId6" Type="http://schemas.openxmlformats.org/officeDocument/2006/relationships/image" Target="../media/image-9-6.jp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201168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D6ECFB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عام الذكاء الاصطناعي 2026 | الإنتاج الإبداعي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2514600"/>
            <a:ext cx="6702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خطة توظيف الذكاء الاصطناعي</a:t>
            </a:r>
            <a:endParaRPr lang="ar-SA" sz="40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في الإنتاج الإبداعي</a:t>
            </a:r>
            <a:endParaRPr lang="ar-SA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126480" y="4526280"/>
            <a:ext cx="5513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ذكاء يسرّع الإنجاز.. وأنت تقود القرار</a:t>
            </a:r>
            <a:endParaRPr lang="ar-SA" sz="2000" dirty="0"/>
          </a:p>
        </p:txBody>
      </p:sp>
      <p:sp>
        <p:nvSpPr>
          <p:cNvPr id="5" name="Shape 3"/>
          <p:cNvSpPr/>
          <p:nvPr/>
        </p:nvSpPr>
        <p:spPr>
          <a:xfrm>
            <a:off x="7891272" y="5212080"/>
            <a:ext cx="3749040" cy="502920"/>
          </a:xfrm>
          <a:prstGeom prst="roundRect">
            <a:avLst>
              <a:gd name="adj" fmla="val 49091"/>
            </a:avLst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91272" y="5212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مسودة عمل للنقاش | أكتوبر 2026</a:t>
            </a:r>
            <a:endParaRPr lang="en-US" sz="1500" dirty="0"/>
          </a:p>
        </p:txBody>
      </p:sp>
      <p:pic>
        <p:nvPicPr>
          <p:cNvPr id="7" name="Image 0" descr="شعار صندوق تنمية الموارد البشر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5989320"/>
            <a:ext cx="1737360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محاور العرض</a:t>
            </a:r>
            <a:endParaRPr lang="ar-SA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4173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رحلتنا مع الذكاء الاصطناعي في الإنتاج الإبداعي</a:t>
            </a:r>
            <a:endParaRPr lang="ar-SA" sz="2200" dirty="0"/>
          </a:p>
        </p:txBody>
      </p:sp>
      <p:sp>
        <p:nvSpPr>
          <p:cNvPr id="6" name="Shape 3"/>
          <p:cNvSpPr/>
          <p:nvPr/>
        </p:nvSpPr>
        <p:spPr>
          <a:xfrm>
            <a:off x="9628632" y="233172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817352" y="2606040"/>
            <a:ext cx="594360" cy="59436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81735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811512" y="3429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أهمية الذكاء الاصطناعي</a:t>
            </a:r>
            <a:endParaRPr lang="ar-SA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811512" y="4160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بالأرقام والممكنات وكيف يختصر العمل</a:t>
            </a:r>
            <a:endParaRPr lang="ar-SA" sz="1400" dirty="0"/>
          </a:p>
        </p:txBody>
      </p:sp>
      <p:sp>
        <p:nvSpPr>
          <p:cNvPr id="11" name="Shape 8"/>
          <p:cNvSpPr/>
          <p:nvPr/>
        </p:nvSpPr>
        <p:spPr>
          <a:xfrm>
            <a:off x="7434072" y="233172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22792" y="2606040"/>
            <a:ext cx="594360" cy="59436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2279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2" y="3429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الوضع الراهن</a:t>
            </a:r>
            <a:endParaRPr lang="ar-SA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2" y="4160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داخليًا وفي القطاعات المشابهة بالمملكة</a:t>
            </a:r>
            <a:endParaRPr lang="ar-SA" sz="1400" dirty="0"/>
          </a:p>
        </p:txBody>
      </p:sp>
      <p:sp>
        <p:nvSpPr>
          <p:cNvPr id="16" name="Shape 13"/>
          <p:cNvSpPr/>
          <p:nvPr/>
        </p:nvSpPr>
        <p:spPr>
          <a:xfrm>
            <a:off x="5239512" y="233172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28232" y="2606040"/>
            <a:ext cx="594360" cy="59436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2823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22392" y="3429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ما استفدناه</a:t>
            </a:r>
            <a:endParaRPr lang="ar-SA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422392" y="4160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الحملات والتصاميم وخفض التكاليف</a:t>
            </a:r>
            <a:endParaRPr lang="ar-SA" sz="1400" dirty="0"/>
          </a:p>
        </p:txBody>
      </p:sp>
      <p:sp>
        <p:nvSpPr>
          <p:cNvPr id="21" name="Shape 18"/>
          <p:cNvSpPr/>
          <p:nvPr/>
        </p:nvSpPr>
        <p:spPr>
          <a:xfrm>
            <a:off x="3044952" y="233172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33672" y="2606040"/>
            <a:ext cx="594360" cy="59436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3367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27832" y="3429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أدواتنا الأساسية</a:t>
            </a:r>
            <a:endParaRPr lang="ar-SA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3227832" y="4160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Magnific و Claude</a:t>
            </a:r>
            <a:endParaRPr lang="ar-SA" sz="1400" dirty="0"/>
          </a:p>
        </p:txBody>
      </p:sp>
      <p:sp>
        <p:nvSpPr>
          <p:cNvPr id="26" name="Shape 23"/>
          <p:cNvSpPr/>
          <p:nvPr/>
        </p:nvSpPr>
        <p:spPr>
          <a:xfrm>
            <a:off x="850392" y="233172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39112" y="2606040"/>
            <a:ext cx="594360" cy="59436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3911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033272" y="3429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الخطة والاستثمار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1033272" y="4160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خطة 3 سنوات وأسعار الأدوات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الذكاء الاصطناعي بالأرقام</a:t>
            </a:r>
            <a:endParaRPr lang="ar-SA" sz="2800" dirty="0"/>
          </a:p>
        </p:txBody>
      </p:sp>
      <p:sp>
        <p:nvSpPr>
          <p:cNvPr id="5" name="Shape 2"/>
          <p:cNvSpPr/>
          <p:nvPr/>
        </p:nvSpPr>
        <p:spPr>
          <a:xfrm>
            <a:off x="6245352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680192" y="1737360"/>
            <a:ext cx="640080" cy="640080"/>
          </a:xfrm>
          <a:prstGeom prst="ellipse">
            <a:avLst/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014" y="191018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65392" y="16916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135 مليار دولار</a:t>
            </a:r>
            <a:endParaRPr lang="ar-SA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6565392" y="2560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المساهمة المتوقعة للذكاء الاصطناعي في الناتج المحلي للمملكة بحلول 2030 (نحو 12.4%)</a:t>
            </a:r>
            <a:endParaRPr lang="ar-SA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83480" y="1737360"/>
            <a:ext cx="640080" cy="64008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302" y="191018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8680" y="16916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EE782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4.4 تريليون دولار</a:t>
            </a:r>
            <a:endParaRPr lang="ar-SA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2560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قيمة سنوية يمكن أن يضيفها الذكاء الاصطناعي التوليدي للاقتصاد العالمي (2.6 – 4.4)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6245352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0680192" y="4023360"/>
            <a:ext cx="640080" cy="64008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014" y="4196182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65392" y="39776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EE782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2026</a:t>
            </a:r>
            <a:endParaRPr lang="ar-SA" sz="3600" dirty="0"/>
          </a:p>
        </p:txBody>
      </p:sp>
      <p:sp>
        <p:nvSpPr>
          <p:cNvPr id="19" name="Text 13"/>
          <p:cNvSpPr txBox="1"/>
          <p:nvPr/>
        </p:nvSpPr>
        <p:spPr>
          <a:xfrm>
            <a:off x="6565392" y="4846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عام الذكاء الاصطناعي في المملكة بقرار مجلس الوزراء، بقيادة سدايا</a:t>
            </a:r>
            <a:endParaRPr lang="ar-SA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83480" y="4023360"/>
            <a:ext cx="640080" cy="640080"/>
          </a:xfrm>
          <a:prstGeom prst="ellipse">
            <a:avLst/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302" y="4196182"/>
            <a:ext cx="294437" cy="29443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8680" y="39776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75%</a:t>
            </a:r>
            <a:endParaRPr lang="ar-SA" sz="3600" dirty="0"/>
          </a:p>
        </p:txBody>
      </p:sp>
      <p:sp>
        <p:nvSpPr>
          <p:cNvPr id="24" name="Text 17"/>
          <p:cNvSpPr txBox="1"/>
          <p:nvPr/>
        </p:nvSpPr>
        <p:spPr>
          <a:xfrm>
            <a:off x="868680" y="4846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من العاملين في الوظائف المعرفية حول العالم يستخدمون الذكاء الاصطناعي في عملهم</a:t>
            </a:r>
            <a:endParaRPr lang="ar-SA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280160" y="589788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المصادر: سدايا والاستراتيجية الوطنية للبيانات والذكاء الاصطناعي · McKinsey 2023 · Microsoft و LinkedIn Work Trend Index 2024</a:t>
            </a:r>
            <a:endParaRPr lang="ar-SA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ممكنات الذكاء الاصطناعي</a:t>
            </a:r>
            <a:endParaRPr lang="ar-SA" sz="2800" dirty="0"/>
          </a:p>
        </p:txBody>
      </p:sp>
      <p:sp>
        <p:nvSpPr>
          <p:cNvPr id="5" name="Shape 2"/>
          <p:cNvSpPr/>
          <p:nvPr/>
        </p:nvSpPr>
        <p:spPr>
          <a:xfrm>
            <a:off x="8211312" y="141732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99064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135" y="1844711"/>
            <a:ext cx="260787" cy="2607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85632" y="2377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توليد الأفكار</a:t>
            </a:r>
            <a:endParaRPr lang="ar-SA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485632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عشرات المفاهيم الإبداعية للحملة في دقائق</a:t>
            </a:r>
            <a:endParaRPr lang="ar-SA" sz="1500" dirty="0"/>
          </a:p>
        </p:txBody>
      </p:sp>
      <p:sp>
        <p:nvSpPr>
          <p:cNvPr id="10" name="Shape 6"/>
          <p:cNvSpPr/>
          <p:nvPr/>
        </p:nvSpPr>
        <p:spPr>
          <a:xfrm>
            <a:off x="4507992" y="141732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95744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815" y="1844711"/>
            <a:ext cx="260787" cy="2607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82312" y="2377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كتابة المحتوى</a:t>
            </a:r>
            <a:endParaRPr lang="ar-SA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4782312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سيناريوهات ونصوص ومنشورات بأكثر من صيغة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804672" y="141732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392424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495" y="184471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78992" y="2377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توليد الصور</a:t>
            </a:r>
            <a:endParaRPr lang="ar-SA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078992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مشاهد وشخصيات وبيئات دون جلسات تصوير</a:t>
            </a:r>
            <a:endParaRPr lang="ar-SA" sz="1500" dirty="0"/>
          </a:p>
        </p:txBody>
      </p:sp>
      <p:sp>
        <p:nvSpPr>
          <p:cNvPr id="20" name="Shape 14"/>
          <p:cNvSpPr/>
          <p:nvPr/>
        </p:nvSpPr>
        <p:spPr>
          <a:xfrm>
            <a:off x="8211312" y="374904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799064" y="402336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2135" y="4176431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85632" y="4709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الفيديو والتحريك</a:t>
            </a:r>
            <a:endParaRPr lang="ar-SA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8485632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لقطات سينمائية من صورة أو نص</a:t>
            </a:r>
            <a:endParaRPr lang="ar-SA" sz="1500" dirty="0"/>
          </a:p>
        </p:txBody>
      </p:sp>
      <p:sp>
        <p:nvSpPr>
          <p:cNvPr id="25" name="Shape 18"/>
          <p:cNvSpPr/>
          <p:nvPr/>
        </p:nvSpPr>
        <p:spPr>
          <a:xfrm>
            <a:off x="4507992" y="374904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095744" y="402336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815" y="4176431"/>
            <a:ext cx="260787" cy="26078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82312" y="4709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التعليق الصوتي</a:t>
            </a:r>
            <a:endParaRPr lang="ar-SA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4782312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أصوات احترافية دون استوديو تسجيل</a:t>
            </a:r>
            <a:endParaRPr lang="ar-SA" sz="1500" dirty="0"/>
          </a:p>
        </p:txBody>
      </p:sp>
      <p:sp>
        <p:nvSpPr>
          <p:cNvPr id="30" name="Shape 22"/>
          <p:cNvSpPr/>
          <p:nvPr/>
        </p:nvSpPr>
        <p:spPr>
          <a:xfrm>
            <a:off x="804672" y="374904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3392424" y="402336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5495" y="4176431"/>
            <a:ext cx="260787" cy="26078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78992" y="4709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التحسين ورفع الدقة</a:t>
            </a:r>
            <a:endParaRPr lang="ar-SA" sz="2000" dirty="0"/>
          </a:p>
        </p:txBody>
      </p:sp>
      <p:sp>
        <p:nvSpPr>
          <p:cNvPr id="34" name="Text 25"/>
          <p:cNvSpPr txBox="1"/>
          <p:nvPr/>
        </p:nvSpPr>
        <p:spPr>
          <a:xfrm>
            <a:off x="1078992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جودة طباعة ولوحات خارجية من أي مخرج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كيف يختصر الذكاء الاصطناعي العمل؟</a:t>
            </a:r>
            <a:endParaRPr lang="ar-SA" sz="2800" dirty="0"/>
          </a:p>
        </p:txBody>
      </p:sp>
      <p:sp>
        <p:nvSpPr>
          <p:cNvPr id="5" name="Shape 2"/>
          <p:cNvSpPr/>
          <p:nvPr/>
        </p:nvSpPr>
        <p:spPr>
          <a:xfrm>
            <a:off x="6565392" y="141732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931152" y="17373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الطريقة التقليدية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931152" y="2377440"/>
            <a:ext cx="4343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اجتماعات وعصف ذهني لأيام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مسودات ومراجعات طويلة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موقع تصوير وطاقم ومعدات وممثلون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حجز استوديو ومعلّق صوتي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إعادة تصميم كل مقاس يدويًا</a:t>
            </a:r>
            <a:endParaRPr lang="ar-SA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14400" y="17373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مع الذكاء الاصطناعي</a:t>
            </a:r>
            <a:endParaRPr lang="ar-SA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377440"/>
            <a:ext cx="4343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مفاهيم متعددة خلال دقائق مع Claude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مسودة فورية ثم تحرير بشري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مشاهد وشخصيات مولّدة بلا تصوير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تعليق صوتي مولّد ومراجَع</a:t>
            </a:r>
            <a:endParaRPr lang="ar-SA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توسيع ورفع دقة لكل المقاسات</a:t>
            </a:r>
            <a:endParaRPr lang="ar-SA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2706624"/>
            <a:ext cx="768096" cy="768096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386" y="2914010"/>
            <a:ext cx="353324" cy="3533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المراحل التي يختصرها الذكاء الاصطناعي:</a:t>
            </a:r>
            <a:endParaRPr lang="ar-SA" sz="1600" dirty="0"/>
          </a:p>
        </p:txBody>
      </p:sp>
      <p:sp>
        <p:nvSpPr>
          <p:cNvPr id="14" name="Shape 10"/>
          <p:cNvSpPr/>
          <p:nvPr/>
        </p:nvSpPr>
        <p:spPr>
          <a:xfrm>
            <a:off x="9674352" y="54864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74352" y="5486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392924" y="54864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92924" y="5486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النص والسيناريو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111496" y="54864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111496" y="5486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التصوير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2830068" y="54864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830068" y="5486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التعليق الصوتي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548640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5486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المقاسات والنسخ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الوضع الراهن: كيف نستخدم الذكاء الاصطناعي اليوم</a:t>
            </a:r>
            <a:endParaRPr lang="ar-SA" sz="2800" dirty="0"/>
          </a:p>
        </p:txBody>
      </p:sp>
      <p:sp>
        <p:nvSpPr>
          <p:cNvPr id="5" name="Shape 2"/>
          <p:cNvSpPr/>
          <p:nvPr/>
        </p:nvSpPr>
        <p:spPr>
          <a:xfrm>
            <a:off x="8211312" y="14173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99064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135" y="1844711"/>
            <a:ext cx="260787" cy="2607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85632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Claude</a:t>
            </a:r>
            <a:endParaRPr lang="ar-SA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485632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الأفكار والمحتوى</a:t>
            </a:r>
            <a:endParaRPr lang="ar-SA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8485632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العصف الذهني للحملات، وكتابة السيناريوهات والنصوص، وصياغة أوامر التوليد</a:t>
            </a:r>
            <a:endParaRPr lang="ar-SA" sz="1500" dirty="0"/>
          </a:p>
        </p:txBody>
      </p:sp>
      <p:sp>
        <p:nvSpPr>
          <p:cNvPr id="11" name="Shape 7"/>
          <p:cNvSpPr/>
          <p:nvPr/>
        </p:nvSpPr>
        <p:spPr>
          <a:xfrm>
            <a:off x="4379976" y="14173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67728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799" y="184471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54296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Magnific</a:t>
            </a:r>
            <a:endParaRPr lang="ar-SA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654296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المرئيات الرئيسية</a:t>
            </a:r>
            <a:endParaRPr lang="ar-SA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4654296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توليد المرئيات الرئيسية للحملات ورفع دقتها للطباعة والشاشات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14173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136392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463" y="1844711"/>
            <a:ext cx="260787" cy="26078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نماذج الفيديو</a:t>
            </a:r>
            <a:endParaRPr lang="ar-SA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فيديوهات الحملات</a:t>
            </a:r>
            <a:endParaRPr lang="ar-SA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تحريك المرئيات وتوليد لقطات سينمائية بدلًا من التصوير الميداني</a:t>
            </a:r>
            <a:endParaRPr lang="ar-SA" sz="1500" dirty="0"/>
          </a:p>
        </p:txBody>
      </p:sp>
      <p:sp>
        <p:nvSpPr>
          <p:cNvPr id="23" name="Shape 17"/>
          <p:cNvSpPr/>
          <p:nvPr/>
        </p:nvSpPr>
        <p:spPr>
          <a:xfrm>
            <a:off x="548640" y="493776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214E83"/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927080" y="5093208"/>
            <a:ext cx="512064" cy="512064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5337" y="5231465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68680" y="4937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الفرصة: الاستخدام قائم بحسب المشروع، ونحتاج إطارًا موحّدًا للاشتراكات والجودة والحوكمة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القطاعات المشابهة في المملكة</a:t>
            </a:r>
            <a:endParaRPr lang="ar-SA" sz="2800" dirty="0"/>
          </a:p>
        </p:txBody>
      </p:sp>
      <p:sp>
        <p:nvSpPr>
          <p:cNvPr id="5" name="Shape 2"/>
          <p:cNvSpPr/>
          <p:nvPr/>
        </p:nvSpPr>
        <p:spPr>
          <a:xfrm>
            <a:off x="6245352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53344" y="173736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415" y="1890431"/>
            <a:ext cx="260787" cy="2607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65392" y="1783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سدايا</a:t>
            </a:r>
            <a:endParaRPr lang="ar-SA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6565392" y="2514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تقود مبادرة عام الذكاء الاصطناعي 2026، وطوّرت نموذج «علّام» للغة العربية</a:t>
            </a:r>
            <a:endParaRPr lang="ar-SA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56632" y="1737360"/>
            <a:ext cx="566928" cy="566928"/>
          </a:xfrm>
          <a:prstGeom prst="ellipse">
            <a:avLst/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703" y="1890431"/>
            <a:ext cx="260787" cy="2607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8680" y="1783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هيوماين HUMAIN</a:t>
            </a:r>
            <a:endParaRPr lang="ar-SA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2514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شركة صندوق الاستثمارات العامة للذكاء الاصطناعي، لبناء القدرات والبنية التحتية محليًا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6245352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53344" y="4069080"/>
            <a:ext cx="566928" cy="566928"/>
          </a:xfrm>
          <a:prstGeom prst="ellipse">
            <a:avLst/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415" y="422215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65392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الجهات الحكومية</a:t>
            </a:r>
            <a:endParaRPr lang="ar-SA" sz="2100" dirty="0"/>
          </a:p>
        </p:txBody>
      </p:sp>
      <p:sp>
        <p:nvSpPr>
          <p:cNvPr id="19" name="Text 13"/>
          <p:cNvSpPr txBox="1"/>
          <p:nvPr/>
        </p:nvSpPr>
        <p:spPr>
          <a:xfrm>
            <a:off x="6565392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حملات توعوية ومحتوى مرئي مولّد، ومساعدات ذكية في الخدمات الرقمية</a:t>
            </a:r>
            <a:endParaRPr lang="ar-SA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56632" y="406908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703" y="4222151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868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البنوك والاتصالات</a:t>
            </a:r>
            <a:endParaRPr lang="ar-SA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868680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محادثات ذكية لخدمة العملاء، وإعلانات وتجارب تسويقية بالذكاء الاصطناعي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كيف استفدنا من الذكاء الاصطناعي</a:t>
            </a:r>
            <a:endParaRPr lang="ar-SA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4630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إنتاج أسرع، بتكلفة أقل، وجودة بمستوى الحملات الكبرى</a:t>
            </a:r>
            <a:endParaRPr lang="ar-SA" sz="3000" dirty="0"/>
          </a:p>
        </p:txBody>
      </p:sp>
      <p:sp>
        <p:nvSpPr>
          <p:cNvPr id="6" name="Shape 3"/>
          <p:cNvSpPr/>
          <p:nvPr/>
        </p:nvSpPr>
        <p:spPr>
          <a:xfrm>
            <a:off x="8211312" y="274320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85632" y="3108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EE782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[__%]</a:t>
            </a:r>
            <a:endParaRPr lang="ar-SA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4160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خفض في تكاليف التصوير والتسجيل</a:t>
            </a:r>
            <a:endParaRPr lang="ar-SA" sz="1700" dirty="0"/>
          </a:p>
        </p:txBody>
      </p:sp>
      <p:sp>
        <p:nvSpPr>
          <p:cNvPr id="9" name="Shape 6"/>
          <p:cNvSpPr/>
          <p:nvPr/>
        </p:nvSpPr>
        <p:spPr>
          <a:xfrm>
            <a:off x="4379976" y="274320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54296" y="3108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EE782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[__] أيام</a:t>
            </a:r>
            <a:endParaRPr lang="ar-SA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654296" y="4160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زمن إنتاج الحملة بدلًا من [__] أسابيع</a:t>
            </a:r>
            <a:endParaRPr lang="ar-SA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108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EE782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[__]+</a:t>
            </a:r>
            <a:endParaRPr lang="ar-SA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160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حملة وتصميم منفّذ بالذكاء الاصطناعي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أبرز الحملات المنتجة بالذكاء الاصطناعي</a:t>
            </a:r>
            <a:endParaRPr lang="ar-SA" sz="2800" dirty="0"/>
          </a:p>
        </p:txBody>
      </p:sp>
      <p:pic>
        <p:nvPicPr>
          <p:cNvPr id="5" name="Image 1" descr="حملة عام الذكاء الاصطناعي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11312" y="1463040"/>
            <a:ext cx="3429000" cy="19293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605772" y="2107692"/>
            <a:ext cx="640080" cy="640080"/>
          </a:xfrm>
          <a:prstGeom prst="ellipse">
            <a:avLst/>
          </a:prstGeom>
          <a:solidFill>
            <a:srgbClr val="0B1A33">
              <a:alpha val="7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084" y="2290572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211312" y="36210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عام الذكاء الاصطناعي</a:t>
            </a:r>
            <a:endParaRPr lang="ar-SA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8211312" y="412394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«ذكاء يسرّع الإنجاز.. وأنت تقود القرار»</a:t>
            </a:r>
            <a:endParaRPr lang="ar-SA" sz="1500" dirty="0"/>
          </a:p>
        </p:txBody>
      </p:sp>
      <p:pic>
        <p:nvPicPr>
          <p:cNvPr id="10" name="Image 3" descr="حملة تجربة العمل: من هو الهدف؟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79976" y="1463040"/>
            <a:ext cx="3429000" cy="192938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74436" y="2107692"/>
            <a:ext cx="640080" cy="640080"/>
          </a:xfrm>
          <a:prstGeom prst="ellipse">
            <a:avLst/>
          </a:prstGeom>
          <a:solidFill>
            <a:srgbClr val="0B1A33">
              <a:alpha val="7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748" y="2290572"/>
            <a:ext cx="274320" cy="2743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379976" y="36210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تجربة العمل</a:t>
            </a:r>
            <a:endParaRPr lang="ar-SA" sz="2000" dirty="0"/>
          </a:p>
        </p:txBody>
      </p:sp>
      <p:sp>
        <p:nvSpPr>
          <p:cNvPr id="14" name="Text 7"/>
          <p:cNvSpPr txBox="1"/>
          <p:nvPr/>
        </p:nvSpPr>
        <p:spPr>
          <a:xfrm>
            <a:off x="4379976" y="412394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«العميل هو الهدف»</a:t>
            </a:r>
            <a:endParaRPr lang="ar-SA" sz="1500" dirty="0"/>
          </a:p>
        </p:txBody>
      </p:sp>
      <p:pic>
        <p:nvPicPr>
          <p:cNvPr id="15" name="Image 5" descr="حملة اليوم الوطني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1463040"/>
            <a:ext cx="3429000" cy="1929384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943100" y="2107692"/>
            <a:ext cx="640080" cy="640080"/>
          </a:xfrm>
          <a:prstGeom prst="ellipse">
            <a:avLst/>
          </a:prstGeom>
          <a:solidFill>
            <a:srgbClr val="0B1A33">
              <a:alpha val="70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3412" y="2290572"/>
            <a:ext cx="274320" cy="27432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48640" y="36210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اليوم الوطني</a:t>
            </a:r>
            <a:endParaRPr lang="ar-SA" sz="2000" dirty="0"/>
          </a:p>
        </p:txBody>
      </p:sp>
      <p:sp>
        <p:nvSpPr>
          <p:cNvPr id="19" name="Text 10"/>
          <p:cNvSpPr txBox="1"/>
          <p:nvPr/>
        </p:nvSpPr>
        <p:spPr>
          <a:xfrm>
            <a:off x="548640" y="412394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«في عزها ومجدها.. هيبة في كل مكان»</a:t>
            </a:r>
            <a:endParaRPr lang="ar-SA" sz="1500" dirty="0"/>
          </a:p>
        </p:txBody>
      </p:sp>
      <p:sp>
        <p:nvSpPr>
          <p:cNvPr id="20" name="Text 11"/>
          <p:cNvSpPr txBox="1"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B9CCE6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وغيرها من الحملات المنفّذة خلال العام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أبرز التصاميم</a:t>
            </a:r>
            <a:endParaRPr lang="ar-SA" sz="2800" dirty="0"/>
          </a:p>
        </p:txBody>
      </p:sp>
      <p:pic>
        <p:nvPicPr>
          <p:cNvPr id="5" name="Image 1" descr="تصميم تمهير: المعرفة بداية والخبرة امتداده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1417320"/>
            <a:ext cx="3108960" cy="3886200"/>
          </a:xfrm>
          <a:prstGeom prst="rect">
            <a:avLst/>
          </a:prstGeom>
        </p:spPr>
      </p:pic>
      <p:pic>
        <p:nvPicPr>
          <p:cNvPr id="6" name="Image 2" descr="لقاءات القصيم 26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07992" y="1417320"/>
            <a:ext cx="3749040" cy="1828800"/>
          </a:xfrm>
          <a:prstGeom prst="rect">
            <a:avLst/>
          </a:prstGeom>
        </p:spPr>
      </p:pic>
      <p:pic>
        <p:nvPicPr>
          <p:cNvPr id="7" name="Image 3" descr="عام الذكاء الاصطناعي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1417320"/>
            <a:ext cx="3749040" cy="1828800"/>
          </a:xfrm>
          <a:prstGeom prst="rect">
            <a:avLst/>
          </a:prstGeom>
        </p:spPr>
      </p:pic>
      <p:pic>
        <p:nvPicPr>
          <p:cNvPr id="8" name="Image 4" descr="اليوم الوطني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07992" y="3474720"/>
            <a:ext cx="3749040" cy="1828800"/>
          </a:xfrm>
          <a:prstGeom prst="rect">
            <a:avLst/>
          </a:prstGeom>
        </p:spPr>
      </p:pic>
      <p:pic>
        <p:nvPicPr>
          <p:cNvPr id="9" name="Image 5" descr="تجربة العمل: من هو الهدف؟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3474720"/>
            <a:ext cx="3749040" cy="182880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مرئيات رئيسية بجودة الحملات الكبرى، دون جلسات تصوير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كيف خفّضنا تكاليف الإنتاج</a:t>
            </a:r>
            <a:endParaRPr lang="ar-SA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2194560"/>
                <a:gridCol w="3044952"/>
              </a:tblGrid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التكلفة الآن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البديل بالذكاء الاصطناعي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التكلفة التقليدية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البند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بيئات ومشاهد مولّدة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مواقع التصوير والتصاريح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مصمم ومحرّك أدوات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الطاقم والمعدات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شخصيات مولّدة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الممثلون والمواهب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تعليق صوتي مولّد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استوديو التسجيل والمعلّق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لقطات ومؤثرات مولّدة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المؤثرات والمونتاج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توفير [__%]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ر.س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الإجمالي لكل حملة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Magnific: عشرات المحركات في منصة واحدة</a:t>
            </a:r>
            <a:endParaRPr lang="ar-SA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1463040"/>
            <a:ext cx="4690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بدل اشتراكات متفرقة لكل نموذج، يجمع Magnific أقوى محركات الصور والفيديو مع أدوات التحسين في اشتراك واحد</a:t>
            </a:r>
            <a:endParaRPr lang="ar-SA" sz="1800" dirty="0"/>
          </a:p>
        </p:txBody>
      </p:sp>
      <p:sp>
        <p:nvSpPr>
          <p:cNvPr id="6" name="Shape 3"/>
          <p:cNvSpPr/>
          <p:nvPr/>
        </p:nvSpPr>
        <p:spPr>
          <a:xfrm>
            <a:off x="11228832" y="2926080"/>
            <a:ext cx="411480" cy="41148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9932" y="3037180"/>
            <a:ext cx="189281" cy="18928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49440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اختيار المحرك الأنسب لكل لقطة</a:t>
            </a:r>
            <a:endParaRPr lang="ar-SA" sz="1600" dirty="0"/>
          </a:p>
        </p:txBody>
      </p:sp>
      <p:sp>
        <p:nvSpPr>
          <p:cNvPr id="9" name="Shape 5"/>
          <p:cNvSpPr/>
          <p:nvPr/>
        </p:nvSpPr>
        <p:spPr>
          <a:xfrm>
            <a:off x="11228832" y="3547872"/>
            <a:ext cx="411480" cy="41148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932" y="3658972"/>
            <a:ext cx="189281" cy="18928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4944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رفع الدقة حتى جودة الطباعة</a:t>
            </a:r>
            <a:endParaRPr lang="ar-SA" sz="1600" dirty="0"/>
          </a:p>
        </p:txBody>
      </p:sp>
      <p:sp>
        <p:nvSpPr>
          <p:cNvPr id="12" name="Shape 7"/>
          <p:cNvSpPr/>
          <p:nvPr/>
        </p:nvSpPr>
        <p:spPr>
          <a:xfrm>
            <a:off x="11228832" y="4169664"/>
            <a:ext cx="411480" cy="41148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9932" y="4280764"/>
            <a:ext cx="189281" cy="18928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49440" y="41513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تحويل الصورة إلى فيديو مباشرة</a:t>
            </a:r>
            <a:endParaRPr lang="ar-SA" sz="1600" dirty="0"/>
          </a:p>
        </p:txBody>
      </p:sp>
      <p:sp>
        <p:nvSpPr>
          <p:cNvPr id="15" name="Shape 9"/>
          <p:cNvSpPr/>
          <p:nvPr/>
        </p:nvSpPr>
        <p:spPr>
          <a:xfrm>
            <a:off x="11228832" y="4791456"/>
            <a:ext cx="411480" cy="411480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9932" y="4902556"/>
            <a:ext cx="189281" cy="18928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49440" y="4773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D6E4F5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رصيد موحّد يسهّل ضبط الميزانية</a:t>
            </a:r>
            <a:endParaRPr lang="ar-SA" sz="1600" dirty="0"/>
          </a:p>
        </p:txBody>
      </p:sp>
      <p:sp>
        <p:nvSpPr>
          <p:cNvPr id="18" name="Shape 11"/>
          <p:cNvSpPr/>
          <p:nvPr/>
        </p:nvSpPr>
        <p:spPr>
          <a:xfrm>
            <a:off x="548640" y="1417320"/>
            <a:ext cx="603504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822960" y="15819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محركات الصور</a:t>
            </a:r>
            <a:endParaRPr lang="ar-SA" sz="1800" dirty="0"/>
          </a:p>
        </p:txBody>
      </p:sp>
      <p:sp>
        <p:nvSpPr>
          <p:cNvPr id="20" name="Shape 13"/>
          <p:cNvSpPr/>
          <p:nvPr/>
        </p:nvSpPr>
        <p:spPr>
          <a:xfrm>
            <a:off x="5413248" y="2130552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413248" y="213055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Mystic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927348" y="2130552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3927348" y="2130552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Nano Banana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921508" y="2130552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2921508" y="213055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Imagen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2107692" y="2130552"/>
            <a:ext cx="70408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2107692" y="2130552"/>
            <a:ext cx="70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Flux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909828" y="2130552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909828" y="2130552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Seedream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2898648"/>
            <a:ext cx="603504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محركات الفيديو</a:t>
            </a:r>
            <a:endParaRPr lang="ar-SA" sz="1800" dirty="0"/>
          </a:p>
        </p:txBody>
      </p:sp>
      <p:sp>
        <p:nvSpPr>
          <p:cNvPr id="32" name="Shape 25"/>
          <p:cNvSpPr/>
          <p:nvPr/>
        </p:nvSpPr>
        <p:spPr>
          <a:xfrm>
            <a:off x="5509260" y="3611880"/>
            <a:ext cx="8001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509260" y="3611880"/>
            <a:ext cx="80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Kling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791456" y="3611880"/>
            <a:ext cx="60807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791456" y="3611880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Veo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3785616" y="361188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785616" y="361188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Runway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2587752" y="3611880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2587752" y="361188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Seedance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1581912" y="361188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581912" y="361188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Hailuo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864108" y="3611880"/>
            <a:ext cx="60807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64108" y="3611880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Wan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548640" y="4379976"/>
            <a:ext cx="603504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C0EC">
                <a:alpha val="6000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822960" y="45445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7CC0E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أدوات التحسين</a:t>
            </a:r>
            <a:endParaRPr lang="ar-SA" sz="1800" dirty="0"/>
          </a:p>
        </p:txBody>
      </p:sp>
      <p:sp>
        <p:nvSpPr>
          <p:cNvPr id="46" name="Shape 39"/>
          <p:cNvSpPr/>
          <p:nvPr/>
        </p:nvSpPr>
        <p:spPr>
          <a:xfrm>
            <a:off x="5221224" y="5093208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221224" y="5093208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Upscaler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4119372" y="5093208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4119372" y="5093208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Relight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2441448" y="5093208"/>
            <a:ext cx="156819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2441448" y="5093208"/>
            <a:ext cx="1568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Skin Enhancer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1435608" y="5093208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C0EC">
                <a:alpha val="50000"/>
              </a:srgbClr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1435608" y="509320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Expand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CE6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Claude: شريكنا في التفكير والكتابة</a:t>
            </a:r>
            <a:endParaRPr lang="ar-SA" sz="2800" dirty="0"/>
          </a:p>
        </p:txBody>
      </p:sp>
      <p:sp>
        <p:nvSpPr>
          <p:cNvPr id="5" name="Shape 2"/>
          <p:cNvSpPr/>
          <p:nvPr/>
        </p:nvSpPr>
        <p:spPr>
          <a:xfrm>
            <a:off x="8211312" y="141732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99064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135" y="1844711"/>
            <a:ext cx="260787" cy="2607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85632" y="2377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توليد الأفكار</a:t>
            </a:r>
            <a:endParaRPr lang="ar-SA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485632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مفاهيم وزوايا متعددة للحملة وشعارات بديلة</a:t>
            </a:r>
            <a:endParaRPr lang="ar-SA" sz="1400" dirty="0"/>
          </a:p>
        </p:txBody>
      </p:sp>
      <p:sp>
        <p:nvSpPr>
          <p:cNvPr id="10" name="Shape 6"/>
          <p:cNvSpPr/>
          <p:nvPr/>
        </p:nvSpPr>
        <p:spPr>
          <a:xfrm>
            <a:off x="4379976" y="141732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967728" y="1691640"/>
            <a:ext cx="566928" cy="566928"/>
          </a:xfrm>
          <a:prstGeom prst="ellipse">
            <a:avLst/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799" y="1844711"/>
            <a:ext cx="260787" cy="2607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54296" y="2377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كتابة المحتوى</a:t>
            </a:r>
            <a:endParaRPr lang="ar-SA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654296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سيناريوهات ونصوص إعلانية ومنشورات بنبرة الصندوق</a:t>
            </a:r>
            <a:endParaRPr lang="ar-SA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141732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136392" y="169164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463" y="184471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2960" y="2377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صياغة أوامر التوليد</a:t>
            </a:r>
            <a:endParaRPr lang="ar-SA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برومبتات دقيقة لمحركات الصور والفيديو</a:t>
            </a:r>
            <a:endParaRPr lang="ar-SA" sz="1400" dirty="0"/>
          </a:p>
        </p:txBody>
      </p:sp>
      <p:sp>
        <p:nvSpPr>
          <p:cNvPr id="20" name="Shape 14"/>
          <p:cNvSpPr/>
          <p:nvPr/>
        </p:nvSpPr>
        <p:spPr>
          <a:xfrm>
            <a:off x="8211312" y="37490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799064" y="402336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2135" y="4176431"/>
            <a:ext cx="260787" cy="26078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85632" y="4709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تحليل البريف</a:t>
            </a:r>
            <a:endParaRPr lang="ar-SA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8485632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تلخيص المتطلبات والجمهور والرسائل الرئيسية</a:t>
            </a:r>
            <a:endParaRPr lang="ar-SA" sz="1400" dirty="0"/>
          </a:p>
        </p:txBody>
      </p:sp>
      <p:sp>
        <p:nvSpPr>
          <p:cNvPr id="25" name="Shape 18"/>
          <p:cNvSpPr/>
          <p:nvPr/>
        </p:nvSpPr>
        <p:spPr>
          <a:xfrm>
            <a:off x="4379976" y="37490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967728" y="4023360"/>
            <a:ext cx="566928" cy="566928"/>
          </a:xfrm>
          <a:prstGeom prst="ellipse">
            <a:avLst/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0799" y="4176431"/>
            <a:ext cx="260787" cy="26078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54296" y="4709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التدقيق والترجمة</a:t>
            </a:r>
            <a:endParaRPr lang="ar-SA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4654296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مراجعة لغوية ونسخ عربية وإنجليزية متسقة</a:t>
            </a:r>
            <a:endParaRPr lang="ar-SA" sz="1400" dirty="0"/>
          </a:p>
        </p:txBody>
      </p:sp>
      <p:sp>
        <p:nvSpPr>
          <p:cNvPr id="30" name="Shape 22"/>
          <p:cNvSpPr/>
          <p:nvPr/>
        </p:nvSpPr>
        <p:spPr>
          <a:xfrm>
            <a:off x="548640" y="37490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EAF2FA"/>
          </a:solidFill>
          <a:ln w="12700">
            <a:solidFill>
              <a:srgbClr val="D5E1EF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3136392" y="4023360"/>
            <a:ext cx="566928" cy="566928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463" y="4176431"/>
            <a:ext cx="260787" cy="26078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2960" y="4709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أتمتة المهام</a:t>
            </a:r>
            <a:endParaRPr lang="ar-SA" sz="1900" dirty="0"/>
          </a:p>
        </p:txBody>
      </p:sp>
      <p:sp>
        <p:nvSpPr>
          <p:cNvPr id="34" name="Text 25"/>
          <p:cNvSpPr txBox="1"/>
          <p:nvPr/>
        </p:nvSpPr>
        <p:spPr>
          <a:xfrm>
            <a:off x="822960" y="5166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قوالب وعروض وتقارير جاهزة خلال دقائق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خارطة الطريق لثلاث سنوات (2027 – 2029)</a:t>
            </a:r>
            <a:endParaRPr lang="ar-SA" sz="2800" dirty="0"/>
          </a:p>
        </p:txBody>
      </p:sp>
      <p:sp>
        <p:nvSpPr>
          <p:cNvPr id="5" name="Shape 2"/>
          <p:cNvSpPr/>
          <p:nvPr/>
        </p:nvSpPr>
        <p:spPr>
          <a:xfrm>
            <a:off x="8211312" y="141732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177272" y="1691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177272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2027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331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التأسيس والتمكين</a:t>
            </a:r>
            <a:endParaRPr lang="ar-SA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485632" y="297180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اشتراكات موحّدة للفريق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دليل حوكمة وحقوق استخدام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تدريب الفريق ومكتبة برومبتات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[__%] من المرئيات بالذكاء الاصطناعي</a:t>
            </a:r>
            <a:endParaRPr lang="ar-SA" sz="1500" dirty="0"/>
          </a:p>
        </p:txBody>
      </p:sp>
      <p:sp>
        <p:nvSpPr>
          <p:cNvPr id="10" name="Shape 7"/>
          <p:cNvSpPr/>
          <p:nvPr/>
        </p:nvSpPr>
        <p:spPr>
          <a:xfrm>
            <a:off x="7808976" y="3360420"/>
            <a:ext cx="402336" cy="402336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607" y="3469051"/>
            <a:ext cx="185075" cy="1850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79976" y="141732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45936" y="1691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14E83"/>
          </a:solidFill>
          <a:ln w="12700">
            <a:solidFill>
              <a:srgbClr val="214E8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45936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2028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54296" y="2331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التوسّع في الإنتاج</a:t>
            </a:r>
            <a:endParaRPr lang="ar-SA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654296" y="297180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حملات فيديو كاملة بالذكاء الاصطناعي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تعليق صوتي باللهجة السعودية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محتوى مخصص لكل شريحة مستفيدين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قياس الأداء وتحسين الحملات بالبيانات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3977640" y="3360420"/>
            <a:ext cx="402336" cy="402336"/>
          </a:xfrm>
          <a:prstGeom prst="ellipse">
            <a:avLst/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71" y="3469051"/>
            <a:ext cx="185075" cy="1850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1417320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6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514600" y="1691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E7823"/>
          </a:solidFill>
          <a:ln w="12700">
            <a:solidFill>
              <a:srgbClr val="EE782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5146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2029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2331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الريادة والأتمتة</a:t>
            </a:r>
            <a:endParaRPr lang="ar-SA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297180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سير عمل مؤتمت من البريف للنشر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مساعد إبداعي داخلي بهوية الصندوق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مكتبة أصول مولّدة قابلة لإعادة الاستخدام</a:t>
            </a:r>
            <a:endParaRPr lang="ar-SA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F2A3C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نموذج مرجعي للجهات المشابهة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tionProject/8861ad73-bd4d-5c99-9381-755f4440e38e/scratchpad/build/a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384" y="4572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07338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8912"/>
            <a:ext cx="10314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214E83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أسعار اشتراكات أبرز الأدوات</a:t>
            </a:r>
            <a:endParaRPr lang="ar-SA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566160"/>
                <a:gridCol w="2587752"/>
              </a:tblGrid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السعر الشهري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الخطة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الاستخدام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الأداة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E8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$20 – $100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Pro / Max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الأفكار وكتابة المحتوى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Claude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$37 – $90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Premium+ / Pro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الصور والفيديو والتحسين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Magnific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$22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Creator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التعليق الصوتي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ElevenLabs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$28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Pro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فيديو متقدم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Runway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$30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Standard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5B6B82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صور فنية وأساليب بصرية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Midjourney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E782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دولار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[__] مستخدم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F2A3C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إجمالي الفريق شهريًا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4E83"/>
                          </a:solidFill>
                          <a:latin typeface="SST Arabic" pitchFamily="34" charset="0"/>
                          <a:ea typeface="SST Arabic" pitchFamily="34" charset="-122"/>
                          <a:cs typeface="SST Arabic" pitchFamily="34" charset="-120"/>
                        </a:rPr>
                        <a:t>الإجمالي</a:t>
                      </a:r>
                      <a:endParaRPr lang="en-US" sz="1500" dirty="0">
                        <a:latin typeface="SST Arabic" charset="0"/>
                        <a:ea typeface="SST Arabic" charset="0"/>
                        <a:cs typeface="SST Arab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5B6B82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أسعار تقريبية بالدولار لكل مستخدم شهريًا (أكتوبر 2026)، وتنخفض مع الاشتراك السنوي. تُراجَع من صفحات الأسعار الرسمية قبل الاعتماد.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9107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SST Arabic"/>
                <a:ea typeface="SST Arabic"/>
                <a:cs typeface="SST Arab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عار صندوق تنمية الموارد البشري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371600"/>
            <a:ext cx="2926080" cy="1344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329184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ذكاء يسرّع الإنجاز.. وأنت تقود القرار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40690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D6ECFB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شكرًا لكم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ST Arabic" pitchFamily="34" charset="0"/>
                <a:ea typeface="SST Arabic" pitchFamily="34" charset="-122"/>
                <a:cs typeface="SST Arabic" pitchFamily="34" charset="-120"/>
              </a:rPr>
              <a:t>HRDF.org.sa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DF">
  <a:themeElements>
    <a:clrScheme name="HRDF">
      <a:dk1>
        <a:srgbClr val="1F2A3C"/>
      </a:dk1>
      <a:lt1>
        <a:srgbClr val="FFFFFF"/>
      </a:lt1>
      <a:dk2>
        <a:srgbClr val="214E83"/>
      </a:dk2>
      <a:lt2>
        <a:srgbClr val="EAF2FA"/>
      </a:lt2>
      <a:accent1>
        <a:srgbClr val="214E83"/>
      </a:accent1>
      <a:accent2>
        <a:srgbClr val="EE7823"/>
      </a:accent2>
      <a:accent3>
        <a:srgbClr val="7CC0EC"/>
      </a:accent3>
      <a:accent4>
        <a:srgbClr val="0B6E57"/>
      </a:accent4>
      <a:accent5>
        <a:srgbClr val="5B6B82"/>
      </a:accent5>
      <a:accent6>
        <a:srgbClr val="D6E4F5"/>
      </a:accent6>
      <a:hlink>
        <a:srgbClr val="214E83"/>
      </a:hlink>
      <a:folHlink>
        <a:srgbClr val="5B6B82"/>
      </a:folHlink>
    </a:clrScheme>
    <a:fontScheme name="HRDF">
      <a:majorFont>
        <a:latin typeface="SST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ST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توظيف الذكاء الاصطناعي في الإنتاج الإبداعي</dc:title>
  <dc:subject>PptxGenJS Presentation</dc:subject>
  <dc:creator>صندوق تنمية الموارد البشرية</dc:creator>
  <cp:lastModifiedBy>صندوق تنمية الموارد البشرية</cp:lastModifiedBy>
  <cp:revision>1</cp:revision>
  <dcterms:created xsi:type="dcterms:W3CDTF">2026-10-27T22:46:04Z</dcterms:created>
  <dcterms:modified xsi:type="dcterms:W3CDTF">2026-10-27T22:46:04Z</dcterms:modified>
</cp:coreProperties>
</file>